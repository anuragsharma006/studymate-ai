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745FE7-A244-4C7E-81A9-B781BD25764F}" v="453" dt="2026-08-12T05:26:42.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nuragsharma006.github.io/studymate-a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3294283"/>
          </a:xfrm>
        </p:spPr>
        <p:txBody>
          <a:bodyPr>
            <a:normAutofit fontScale="90000"/>
          </a:bodyPr>
          <a:lstStyle/>
          <a:p>
            <a:r>
              <a:rPr lang="en-US" sz="6600" b="1">
                <a:latin typeface="Calibri"/>
                <a:ea typeface="Calibri"/>
                <a:cs typeface="Calibri"/>
              </a:rPr>
              <a:t>IBM University Engagement Project Submission</a:t>
            </a:r>
            <a:r>
              <a:rPr lang="en-US" dirty="0">
                <a:latin typeface="Calibri"/>
                <a:ea typeface="Calibri"/>
                <a:cs typeface="Calibri"/>
              </a:rPr>
              <a:t> </a:t>
            </a:r>
            <a:br>
              <a:rPr lang="en-US" dirty="0">
                <a:latin typeface="Calibri"/>
                <a:ea typeface="Calibri"/>
                <a:cs typeface="Calibri"/>
              </a:rPr>
            </a:br>
            <a:endParaRPr lang="en-US"/>
          </a:p>
        </p:txBody>
      </p:sp>
      <p:sp>
        <p:nvSpPr>
          <p:cNvPr id="3" name="Subtitle 2"/>
          <p:cNvSpPr>
            <a:spLocks noGrp="1"/>
          </p:cNvSpPr>
          <p:nvPr>
            <p:ph type="subTitle" idx="1"/>
          </p:nvPr>
        </p:nvSpPr>
        <p:spPr/>
        <p:txBody>
          <a:bodyPr vert="horz" lIns="91440" tIns="45720" rIns="91440" bIns="45720" rtlCol="0" anchor="t">
            <a:normAutofit/>
          </a:bodyPr>
          <a:lstStyle/>
          <a:p>
            <a:r>
              <a:rPr lang="en-US">
                <a:ea typeface="+mn-lt"/>
                <a:cs typeface="+mn-lt"/>
              </a:rPr>
              <a:t>“Exploring the Power of Agentic AI with IBM Granite and IBM Bob”</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1C86B-F8CE-3A1A-5444-5AAC17221D59}"/>
              </a:ext>
            </a:extLst>
          </p:cNvPr>
          <p:cNvSpPr>
            <a:spLocks noGrp="1"/>
          </p:cNvSpPr>
          <p:nvPr>
            <p:ph type="title"/>
          </p:nvPr>
        </p:nvSpPr>
        <p:spPr>
          <a:xfrm>
            <a:off x="838200" y="336189"/>
            <a:ext cx="10284107" cy="582854"/>
          </a:xfrm>
        </p:spPr>
        <p:txBody>
          <a:bodyPr>
            <a:normAutofit/>
          </a:bodyPr>
          <a:lstStyle/>
          <a:p>
            <a:r>
              <a:rPr lang="en-US" sz="2400" b="1">
                <a:latin typeface="Arial"/>
                <a:cs typeface="Arial"/>
              </a:rPr>
              <a:t>Project Tile – AI-Powered Health &amp; Wellness Assistant </a:t>
            </a:r>
            <a:endParaRPr lang="en-US"/>
          </a:p>
        </p:txBody>
      </p:sp>
      <p:pic>
        <p:nvPicPr>
          <p:cNvPr id="5" name="Content Placeholder 4">
            <a:extLst>
              <a:ext uri="{FF2B5EF4-FFF2-40B4-BE49-F238E27FC236}">
                <a16:creationId xmlns:a16="http://schemas.microsoft.com/office/drawing/2014/main" id="{0A0D4E69-F42F-EE0B-FBB2-1A3251C2F5F1}"/>
              </a:ext>
            </a:extLst>
          </p:cNvPr>
          <p:cNvPicPr>
            <a:picLocks noGrp="1" noChangeAspect="1"/>
          </p:cNvPicPr>
          <p:nvPr>
            <p:ph idx="1"/>
          </p:nvPr>
        </p:nvPicPr>
        <p:blipFill>
          <a:blip r:embed="rId2"/>
          <a:stretch>
            <a:fillRect/>
          </a:stretch>
        </p:blipFill>
        <p:spPr>
          <a:xfrm>
            <a:off x="647769" y="2487811"/>
            <a:ext cx="10477430" cy="2969918"/>
          </a:xfrm>
          <a:prstGeom prst="rect">
            <a:avLst/>
          </a:prstGeom>
        </p:spPr>
      </p:pic>
      <p:sp>
        <p:nvSpPr>
          <p:cNvPr id="4" name="TextBox 3">
            <a:extLst>
              <a:ext uri="{FF2B5EF4-FFF2-40B4-BE49-F238E27FC236}">
                <a16:creationId xmlns:a16="http://schemas.microsoft.com/office/drawing/2014/main" id="{619D1D2F-4285-17D0-016F-F331DC5F1919}"/>
              </a:ext>
            </a:extLst>
          </p:cNvPr>
          <p:cNvSpPr txBox="1"/>
          <p:nvPr/>
        </p:nvSpPr>
        <p:spPr>
          <a:xfrm>
            <a:off x="838941" y="1484373"/>
            <a:ext cx="46819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mn-lt"/>
                <a:cs typeface="+mn-lt"/>
              </a:rPr>
              <a:t>Domain of Project – Healthcare </a:t>
            </a:r>
            <a:endParaRPr lang="en-US" sz="2400" b="1"/>
          </a:p>
        </p:txBody>
      </p:sp>
    </p:spTree>
    <p:extLst>
      <p:ext uri="{BB962C8B-B14F-4D97-AF65-F5344CB8AC3E}">
        <p14:creationId xmlns:p14="http://schemas.microsoft.com/office/powerpoint/2010/main" val="219443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5231C-1BBA-0B1B-7321-ED7BBF4CE929}"/>
              </a:ext>
            </a:extLst>
          </p:cNvPr>
          <p:cNvSpPr>
            <a:spLocks noGrp="1"/>
          </p:cNvSpPr>
          <p:nvPr>
            <p:ph type="title"/>
          </p:nvPr>
        </p:nvSpPr>
        <p:spPr>
          <a:xfrm>
            <a:off x="645289" y="-1406"/>
            <a:ext cx="10515600" cy="1325563"/>
          </a:xfrm>
        </p:spPr>
        <p:txBody>
          <a:bodyPr/>
          <a:lstStyle/>
          <a:p>
            <a:r>
              <a:rPr lang="en-US">
                <a:ea typeface="+mj-lt"/>
                <a:cs typeface="+mj-lt"/>
              </a:rPr>
              <a:t>Problem Statement -</a:t>
            </a:r>
            <a:endParaRPr lang="en-US"/>
          </a:p>
        </p:txBody>
      </p:sp>
      <p:sp>
        <p:nvSpPr>
          <p:cNvPr id="3" name="Content Placeholder 2">
            <a:extLst>
              <a:ext uri="{FF2B5EF4-FFF2-40B4-BE49-F238E27FC236}">
                <a16:creationId xmlns:a16="http://schemas.microsoft.com/office/drawing/2014/main" id="{DBADC1D4-4702-E9E5-4069-FCC52D9D1876}"/>
              </a:ext>
            </a:extLst>
          </p:cNvPr>
          <p:cNvSpPr>
            <a:spLocks noGrp="1"/>
          </p:cNvSpPr>
          <p:nvPr>
            <p:ph idx="1"/>
          </p:nvPr>
        </p:nvSpPr>
        <p:spPr>
          <a:xfrm>
            <a:off x="838200" y="1160083"/>
            <a:ext cx="11075043" cy="5557032"/>
          </a:xfrm>
        </p:spPr>
        <p:txBody>
          <a:bodyPr vert="horz" lIns="91440" tIns="45720" rIns="91440" bIns="45720" rtlCol="0" anchor="t">
            <a:normAutofit fontScale="92500" lnSpcReduction="10000"/>
          </a:bodyPr>
          <a:lstStyle/>
          <a:p>
            <a:pPr marL="0" indent="0">
              <a:buNone/>
            </a:pPr>
            <a:r>
              <a:rPr lang="en-US" sz="1800" b="1" dirty="0">
                <a:latin typeface="Arial"/>
                <a:cs typeface="Arial"/>
              </a:rPr>
              <a:t>Problem Statement : </a:t>
            </a:r>
            <a:r>
              <a:rPr lang="en-US" sz="1800" dirty="0" err="1">
                <a:latin typeface="Arial"/>
                <a:cs typeface="Arial"/>
              </a:rPr>
              <a:t>StudyMate</a:t>
            </a:r>
            <a:r>
              <a:rPr lang="en-US" sz="1800" dirty="0">
                <a:latin typeface="Arial"/>
                <a:cs typeface="Arial"/>
              </a:rPr>
              <a:t> AI </a:t>
            </a:r>
          </a:p>
          <a:p>
            <a:pPr marL="0" indent="0">
              <a:buNone/>
            </a:pPr>
            <a:endParaRPr lang="en-US" sz="1800" dirty="0">
              <a:latin typeface="Arial"/>
              <a:cs typeface="Arial"/>
            </a:endParaRPr>
          </a:p>
          <a:p>
            <a:pPr marL="0" indent="0">
              <a:buNone/>
            </a:pPr>
            <a:r>
              <a:rPr lang="en-US" sz="1800" b="1">
                <a:latin typeface="Arial"/>
                <a:cs typeface="Arial"/>
              </a:rPr>
              <a:t>The Challenge</a:t>
            </a:r>
            <a:r>
              <a:rPr lang="en-US" sz="1800" dirty="0">
                <a:latin typeface="Arial"/>
                <a:cs typeface="Arial"/>
              </a:rPr>
              <a:t> </a:t>
            </a:r>
            <a:endParaRPr lang="en-US" sz="1800" dirty="0"/>
          </a:p>
          <a:p>
            <a:r>
              <a:rPr lang="en-US" sz="1800">
                <a:latin typeface="Arial"/>
                <a:cs typeface="Arial"/>
              </a:rPr>
              <a:t>Students often struggle with time management, subject prioritization, revision planning, and maintaining consistent study schedules. Study resources are scattered across different platforms, making it difficult to organize learning effectively. Without personalized guidance, students may spend too much time on low-priority topics and struggle to prepare efficiently for exams.</a:t>
            </a:r>
            <a:endParaRPr lang="en-US" sz="1800">
              <a:latin typeface="Aptos" panose="02110004020202020204"/>
              <a:cs typeface="Arial"/>
            </a:endParaRPr>
          </a:p>
          <a:p>
            <a:endParaRPr lang="en-US" sz="1800" dirty="0">
              <a:latin typeface="Arial"/>
              <a:cs typeface="Arial"/>
            </a:endParaRPr>
          </a:p>
          <a:p>
            <a:pPr marL="0" indent="0">
              <a:buNone/>
            </a:pPr>
            <a:r>
              <a:rPr lang="en-US" sz="1800" b="1">
                <a:latin typeface="Arial"/>
                <a:cs typeface="Arial"/>
              </a:rPr>
              <a:t>The Objective</a:t>
            </a:r>
            <a:r>
              <a:rPr lang="en-US" sz="1800" dirty="0">
                <a:latin typeface="Arial"/>
                <a:cs typeface="Arial"/>
              </a:rPr>
              <a:t> </a:t>
            </a:r>
            <a:endParaRPr lang="en-US" sz="1800" dirty="0"/>
          </a:p>
          <a:p>
            <a:pPr marL="0" indent="0">
              <a:buNone/>
            </a:pPr>
            <a:r>
              <a:rPr lang="en-US" sz="1800">
                <a:latin typeface="Arial"/>
                <a:cs typeface="Arial"/>
              </a:rPr>
              <a:t>Build an </a:t>
            </a:r>
            <a:r>
              <a:rPr lang="en-US" sz="1800" b="1">
                <a:latin typeface="Arial"/>
                <a:cs typeface="Arial"/>
              </a:rPr>
              <a:t>AI-powered Study Assistant Agent</a:t>
            </a:r>
            <a:r>
              <a:rPr lang="en-US" sz="1800">
                <a:latin typeface="Arial"/>
                <a:cs typeface="Arial"/>
              </a:rPr>
              <a:t> that provides personalized study guidance and planning. The solution should: </a:t>
            </a:r>
            <a:endParaRPr lang="en-US" sz="1800"/>
          </a:p>
          <a:p>
            <a:pPr marL="0" indent="0">
              <a:buNone/>
            </a:pPr>
            <a:r>
              <a:rPr lang="en-US" sz="1800" b="1">
                <a:latin typeface="Arial"/>
                <a:cs typeface="Arial"/>
              </a:rPr>
              <a:t>   •</a:t>
            </a:r>
            <a:r>
              <a:rPr lang="en-US" sz="1800" dirty="0">
                <a:latin typeface="Arial"/>
                <a:cs typeface="Arial"/>
              </a:rPr>
              <a:t> </a:t>
            </a:r>
            <a:r>
              <a:rPr lang="en-US" sz="1800" b="1">
                <a:latin typeface="Arial"/>
                <a:cs typeface="Arial"/>
              </a:rPr>
              <a:t>Subject Prioritization</a:t>
            </a:r>
            <a:r>
              <a:rPr lang="en-US" sz="1800">
                <a:latin typeface="Arial"/>
                <a:cs typeface="Arial"/>
              </a:rPr>
              <a:t> – Identify weak and high-priority subjects.</a:t>
            </a:r>
            <a:endParaRPr lang="en-US" sz="1800">
              <a:latin typeface="Aptos" panose="02110004020202020204"/>
              <a:cs typeface="Arial"/>
            </a:endParaRPr>
          </a:p>
          <a:p>
            <a:pPr marL="0" indent="0">
              <a:buNone/>
            </a:pPr>
            <a:r>
              <a:rPr lang="en-US" sz="1800" b="1">
                <a:latin typeface="Arial"/>
                <a:cs typeface="Arial"/>
              </a:rPr>
              <a:t>   • Revision Planning</a:t>
            </a:r>
            <a:r>
              <a:rPr lang="en-US" sz="1800">
                <a:latin typeface="Arial"/>
                <a:cs typeface="Arial"/>
              </a:rPr>
              <a:t> – Generate structured revision schedules before exams.</a:t>
            </a:r>
            <a:endParaRPr lang="en-US" sz="1800">
              <a:latin typeface="Aptos" panose="02110004020202020204"/>
              <a:cs typeface="Arial"/>
            </a:endParaRPr>
          </a:p>
          <a:p>
            <a:pPr marL="0" indent="0">
              <a:buNone/>
            </a:pPr>
            <a:r>
              <a:rPr lang="en-US" sz="1800" b="1">
                <a:latin typeface="Arial"/>
                <a:cs typeface="Arial"/>
              </a:rPr>
              <a:t>   • Learning Assistance</a:t>
            </a:r>
            <a:r>
              <a:rPr lang="en-US" sz="1800">
                <a:latin typeface="Arial"/>
                <a:cs typeface="Arial"/>
              </a:rPr>
              <a:t> – Explain difficult topics in simple language. </a:t>
            </a:r>
            <a:endParaRPr lang="en-US" sz="1800">
              <a:latin typeface="Aptos" panose="02110004020202020204"/>
              <a:cs typeface="Arial"/>
            </a:endParaRPr>
          </a:p>
          <a:p>
            <a:pPr marL="0" indent="0">
              <a:buNone/>
            </a:pPr>
            <a:r>
              <a:rPr lang="en-US" sz="1800" b="1">
                <a:latin typeface="Arial"/>
                <a:cs typeface="Arial"/>
              </a:rPr>
              <a:t>   • Progress Tracking – </a:t>
            </a:r>
            <a:r>
              <a:rPr lang="en-US" sz="1800">
                <a:latin typeface="Arial"/>
                <a:cs typeface="Arial"/>
              </a:rPr>
              <a:t>Track completed tasks and study progress.</a:t>
            </a:r>
            <a:r>
              <a:rPr lang="en-US" sz="1800" b="1" dirty="0">
                <a:latin typeface="Arial"/>
                <a:cs typeface="Arial"/>
              </a:rPr>
              <a:t> </a:t>
            </a:r>
            <a:endParaRPr lang="en-US" sz="1800">
              <a:latin typeface="Aptos" panose="02110004020202020204"/>
              <a:cs typeface="Arial"/>
            </a:endParaRPr>
          </a:p>
          <a:p>
            <a:pPr marL="0" indent="0">
              <a:buNone/>
            </a:pPr>
            <a:r>
              <a:rPr lang="en-US" sz="1800" b="1">
                <a:latin typeface="Arial"/>
                <a:cs typeface="Arial"/>
              </a:rPr>
              <a:t>   •</a:t>
            </a:r>
            <a:r>
              <a:rPr lang="en-US" sz="1800" dirty="0">
                <a:latin typeface="Arial"/>
                <a:cs typeface="Arial"/>
              </a:rPr>
              <a:t> </a:t>
            </a:r>
            <a:r>
              <a:rPr lang="en-US" sz="1800" b="1">
                <a:latin typeface="Arial"/>
                <a:cs typeface="Arial"/>
              </a:rPr>
              <a:t>AI Study Assistant</a:t>
            </a:r>
            <a:r>
              <a:rPr lang="en-US" sz="1800">
                <a:latin typeface="Arial"/>
                <a:cs typeface="Arial"/>
              </a:rPr>
              <a:t> – Provide interactive support for study-related questions. </a:t>
            </a:r>
            <a:endParaRPr lang="en-US" sz="1800">
              <a:latin typeface="Aptos" panose="02110004020202020204"/>
              <a:cs typeface="Arial"/>
            </a:endParaRPr>
          </a:p>
          <a:p>
            <a:pPr marL="0" indent="0">
              <a:buNone/>
            </a:pPr>
            <a:r>
              <a:rPr lang="en-US" sz="1800" b="1">
                <a:latin typeface="Arial"/>
                <a:cs typeface="Arial"/>
              </a:rPr>
              <a:t>   • Daily &amp; Weekly Goals</a:t>
            </a:r>
            <a:r>
              <a:rPr lang="en-US" sz="1800" dirty="0">
                <a:latin typeface="Arial"/>
                <a:cs typeface="Arial"/>
              </a:rPr>
              <a:t> – Set achievable learning targets and monitor progress. </a:t>
            </a:r>
            <a:endParaRPr lang="en-US" sz="1800" dirty="0"/>
          </a:p>
          <a:p>
            <a:endParaRPr lang="en-US" sz="1800" dirty="0"/>
          </a:p>
        </p:txBody>
      </p:sp>
    </p:spTree>
    <p:extLst>
      <p:ext uri="{BB962C8B-B14F-4D97-AF65-F5344CB8AC3E}">
        <p14:creationId xmlns:p14="http://schemas.microsoft.com/office/powerpoint/2010/main" val="1549863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A3470-0AE4-B765-B3E2-04C2D0B30D67}"/>
              </a:ext>
            </a:extLst>
          </p:cNvPr>
          <p:cNvSpPr>
            <a:spLocks noGrp="1"/>
          </p:cNvSpPr>
          <p:nvPr>
            <p:ph type="title"/>
          </p:nvPr>
        </p:nvSpPr>
        <p:spPr>
          <a:xfrm>
            <a:off x="539187" y="-1407"/>
            <a:ext cx="10515600" cy="1325563"/>
          </a:xfrm>
        </p:spPr>
        <p:txBody>
          <a:bodyPr/>
          <a:lstStyle/>
          <a:p>
            <a:r>
              <a:rPr lang="en-US">
                <a:ea typeface="+mj-lt"/>
                <a:cs typeface="+mj-lt"/>
              </a:rPr>
              <a:t>Proposed Solution -</a:t>
            </a:r>
            <a:endParaRPr lang="en-US"/>
          </a:p>
        </p:txBody>
      </p:sp>
      <p:sp>
        <p:nvSpPr>
          <p:cNvPr id="3" name="Content Placeholder 2">
            <a:extLst>
              <a:ext uri="{FF2B5EF4-FFF2-40B4-BE49-F238E27FC236}">
                <a16:creationId xmlns:a16="http://schemas.microsoft.com/office/drawing/2014/main" id="{472C0905-A3C7-1716-067C-0186E68155B1}"/>
              </a:ext>
            </a:extLst>
          </p:cNvPr>
          <p:cNvSpPr>
            <a:spLocks noGrp="1"/>
          </p:cNvSpPr>
          <p:nvPr>
            <p:ph idx="1"/>
          </p:nvPr>
        </p:nvSpPr>
        <p:spPr>
          <a:xfrm>
            <a:off x="539187" y="1160081"/>
            <a:ext cx="10515600" cy="5585970"/>
          </a:xfrm>
        </p:spPr>
        <p:txBody>
          <a:bodyPr vert="horz" lIns="91440" tIns="45720" rIns="91440" bIns="45720" rtlCol="0" anchor="t">
            <a:noAutofit/>
          </a:bodyPr>
          <a:lstStyle/>
          <a:p>
            <a:r>
              <a:rPr lang="en-US" sz="1400" b="1">
                <a:latin typeface="Arial"/>
                <a:cs typeface="Arial"/>
              </a:rPr>
              <a:t>Proposed Solution</a:t>
            </a:r>
            <a:r>
              <a:rPr lang="en-US" sz="1400">
                <a:latin typeface="Arial"/>
                <a:cs typeface="Arial"/>
              </a:rPr>
              <a:t>: AI-Powered Study Assistant</a:t>
            </a:r>
            <a:endParaRPr lang="en-US" sz="1400" dirty="0"/>
          </a:p>
          <a:p>
            <a:r>
              <a:rPr lang="en-US" sz="1400">
                <a:latin typeface="Arial"/>
                <a:cs typeface="Arial"/>
              </a:rPr>
              <a:t>The proposed solution is a multi-agent AI-powered Study Assistant built using</a:t>
            </a:r>
            <a:r>
              <a:rPr lang="en-US" sz="1400" b="1">
                <a:latin typeface="Arial"/>
                <a:cs typeface="Arial"/>
              </a:rPr>
              <a:t> IBM Bob</a:t>
            </a:r>
            <a:r>
              <a:rPr lang="en-US" sz="1400">
                <a:latin typeface="Arial"/>
                <a:cs typeface="Arial"/>
              </a:rPr>
              <a:t>,</a:t>
            </a:r>
            <a:r>
              <a:rPr lang="en-US" sz="1400" b="1">
                <a:latin typeface="Arial"/>
                <a:cs typeface="Arial"/>
              </a:rPr>
              <a:t> IBM watsonx.ai</a:t>
            </a:r>
            <a:r>
              <a:rPr lang="en-US" sz="1400">
                <a:latin typeface="Arial"/>
                <a:cs typeface="Arial"/>
              </a:rPr>
              <a:t>, and </a:t>
            </a:r>
            <a:r>
              <a:rPr lang="en-US" sz="1400" b="1">
                <a:latin typeface="Arial"/>
                <a:cs typeface="Arial"/>
              </a:rPr>
              <a:t>Granite Models</a:t>
            </a:r>
            <a:r>
              <a:rPr lang="en-US" sz="1400" dirty="0">
                <a:latin typeface="Arial"/>
                <a:cs typeface="Arial"/>
              </a:rPr>
              <a:t> </a:t>
            </a:r>
            <a:r>
              <a:rPr lang="en-US" sz="1400">
                <a:latin typeface="Arial"/>
                <a:cs typeface="Arial"/>
              </a:rPr>
              <a:t>to provide personalized, real-time study guidance. The system addresses challenges in study planning, subject prioritization, revision, and learning through an intelligent, modular architecture.</a:t>
            </a:r>
            <a:endParaRPr lang="en-US" sz="1400" dirty="0"/>
          </a:p>
          <a:p>
            <a:r>
              <a:rPr lang="en-US" sz="1400">
                <a:latin typeface="Arial"/>
                <a:cs typeface="Arial"/>
              </a:rPr>
              <a:t>At its core, the solution uses</a:t>
            </a:r>
            <a:r>
              <a:rPr lang="en-US" sz="1400" b="1">
                <a:latin typeface="Arial"/>
                <a:cs typeface="Arial"/>
              </a:rPr>
              <a:t> AI-powered reasoning and personalization</a:t>
            </a:r>
            <a:r>
              <a:rPr lang="en-US" sz="1400">
                <a:latin typeface="Arial"/>
                <a:cs typeface="Arial"/>
              </a:rPr>
              <a:t> to understand student information such as subjects, available study time, weak areas, and exam goals, enabling the system to generate effective study plans.</a:t>
            </a:r>
            <a:endParaRPr lang="en-US" sz="1400" dirty="0"/>
          </a:p>
          <a:p>
            <a:r>
              <a:rPr lang="en-US" sz="1400">
                <a:latin typeface="Arial"/>
                <a:cs typeface="Arial"/>
              </a:rPr>
              <a:t>The system consists of four key agents:</a:t>
            </a:r>
            <a:endParaRPr lang="en-US" sz="1400" dirty="0"/>
          </a:p>
          <a:p>
            <a:r>
              <a:rPr lang="en-US" sz="1400" b="1">
                <a:latin typeface="Arial"/>
                <a:cs typeface="Arial"/>
              </a:rPr>
              <a:t>Study Planning Agent</a:t>
            </a:r>
            <a:r>
              <a:rPr lang="en-US" sz="1400">
                <a:latin typeface="Arial"/>
                <a:cs typeface="Arial"/>
              </a:rPr>
              <a:t> creates personalized study schedules based on student inputs such as subjects, available time, and learning goals.</a:t>
            </a:r>
            <a:endParaRPr lang="en-US" sz="1400" dirty="0"/>
          </a:p>
          <a:p>
            <a:r>
              <a:rPr lang="en-US" sz="1400" b="1">
                <a:latin typeface="Arial"/>
                <a:cs typeface="Arial"/>
              </a:rPr>
              <a:t>Subject Analysis Agent</a:t>
            </a:r>
            <a:r>
              <a:rPr lang="en-US" sz="1400">
                <a:latin typeface="Arial"/>
                <a:cs typeface="Arial"/>
              </a:rPr>
              <a:t> identifies weak and high-priority subjects and recommends where the student should focus.</a:t>
            </a:r>
            <a:endParaRPr lang="en-US" sz="1400" dirty="0"/>
          </a:p>
          <a:p>
            <a:r>
              <a:rPr lang="en-US" sz="1400" b="1">
                <a:latin typeface="Arial"/>
                <a:cs typeface="Arial"/>
              </a:rPr>
              <a:t>Revision Agent</a:t>
            </a:r>
            <a:r>
              <a:rPr lang="en-US" sz="1400">
                <a:latin typeface="Arial"/>
                <a:cs typeface="Arial"/>
              </a:rPr>
              <a:t> generates structured revision schedules and helps students prepare for upcoming examinations.</a:t>
            </a:r>
            <a:endParaRPr lang="en-US" sz="1400" dirty="0"/>
          </a:p>
          <a:p>
            <a:r>
              <a:rPr lang="en-US" sz="1400" b="1">
                <a:latin typeface="Arial"/>
                <a:cs typeface="Arial"/>
              </a:rPr>
              <a:t>Learning Assistant Agent</a:t>
            </a:r>
            <a:r>
              <a:rPr lang="en-US" sz="1400">
                <a:latin typeface="Arial"/>
                <a:cs typeface="Arial"/>
              </a:rPr>
              <a:t> explains difficult topics in simple language and provides interactive support for study-related questions.</a:t>
            </a:r>
            <a:endParaRPr lang="en-US" sz="1400" dirty="0"/>
          </a:p>
          <a:p>
            <a:r>
              <a:rPr lang="en-US" sz="1400">
                <a:latin typeface="Arial"/>
                <a:cs typeface="Arial"/>
              </a:rPr>
              <a:t>The solution includes a</a:t>
            </a:r>
            <a:r>
              <a:rPr lang="en-US" sz="1400" b="1" dirty="0">
                <a:latin typeface="Arial"/>
                <a:cs typeface="Arial"/>
              </a:rPr>
              <a:t> </a:t>
            </a:r>
            <a:r>
              <a:rPr lang="en-US" sz="1400">
                <a:latin typeface="Arial"/>
                <a:cs typeface="Arial"/>
              </a:rPr>
              <a:t>user-friendly dashboard that displays daily study schedules, completed tasks, upcoming exams, and overall study progress.</a:t>
            </a:r>
            <a:endParaRPr lang="en-US" sz="1400" dirty="0"/>
          </a:p>
          <a:p>
            <a:r>
              <a:rPr lang="en-US" sz="1400" b="1">
                <a:latin typeface="Arial"/>
                <a:cs typeface="Arial"/>
              </a:rPr>
              <a:t>IBM Bob</a:t>
            </a:r>
            <a:r>
              <a:rPr lang="en-US" sz="1400">
                <a:latin typeface="Arial"/>
                <a:cs typeface="Arial"/>
              </a:rPr>
              <a:t> is used to orchestrate agent workflows, while watsonx.ai supports AI model integration and deployment. Granite models power reasoning, explanation, summarization, and personalization.</a:t>
            </a:r>
            <a:endParaRPr lang="en-US" sz="1400" dirty="0"/>
          </a:p>
          <a:p>
            <a:r>
              <a:rPr lang="en-US" sz="1400">
                <a:latin typeface="Arial"/>
                <a:cs typeface="Arial"/>
              </a:rPr>
              <a:t>Overall, this solution delivers an</a:t>
            </a:r>
            <a:r>
              <a:rPr lang="en-US" sz="1400" b="1">
                <a:latin typeface="Arial"/>
                <a:cs typeface="Arial"/>
              </a:rPr>
              <a:t> end-to-end intelligent study assistant</a:t>
            </a:r>
            <a:r>
              <a:rPr lang="en-US" sz="1400">
                <a:latin typeface="Arial"/>
                <a:cs typeface="Arial"/>
              </a:rPr>
              <a:t> that helps students plan, learn, revise, and track their academic progress.</a:t>
            </a:r>
            <a:endParaRPr lang="en-US" sz="1400" dirty="0"/>
          </a:p>
          <a:p>
            <a:endParaRPr lang="en-US" sz="1400" dirty="0"/>
          </a:p>
        </p:txBody>
      </p:sp>
    </p:spTree>
    <p:extLst>
      <p:ext uri="{BB962C8B-B14F-4D97-AF65-F5344CB8AC3E}">
        <p14:creationId xmlns:p14="http://schemas.microsoft.com/office/powerpoint/2010/main" val="3465337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55B9-F30B-5A35-438D-D7C1FC18156F}"/>
              </a:ext>
            </a:extLst>
          </p:cNvPr>
          <p:cNvSpPr>
            <a:spLocks noGrp="1"/>
          </p:cNvSpPr>
          <p:nvPr>
            <p:ph type="title"/>
          </p:nvPr>
        </p:nvSpPr>
        <p:spPr>
          <a:xfrm>
            <a:off x="838200" y="172214"/>
            <a:ext cx="10515600" cy="1325563"/>
          </a:xfrm>
        </p:spPr>
        <p:txBody>
          <a:bodyPr/>
          <a:lstStyle/>
          <a:p>
            <a:r>
              <a:rPr lang="en-US">
                <a:ea typeface="+mj-lt"/>
                <a:cs typeface="+mj-lt"/>
              </a:rPr>
              <a:t>Technology Used</a:t>
            </a:r>
            <a:endParaRPr lang="en-US"/>
          </a:p>
        </p:txBody>
      </p:sp>
      <p:sp>
        <p:nvSpPr>
          <p:cNvPr id="3" name="Content Placeholder 2">
            <a:extLst>
              <a:ext uri="{FF2B5EF4-FFF2-40B4-BE49-F238E27FC236}">
                <a16:creationId xmlns:a16="http://schemas.microsoft.com/office/drawing/2014/main" id="{81560ACE-F534-45F1-8D14-D6F8B13DEF4F}"/>
              </a:ext>
            </a:extLst>
          </p:cNvPr>
          <p:cNvSpPr>
            <a:spLocks noGrp="1"/>
          </p:cNvSpPr>
          <p:nvPr>
            <p:ph idx="1"/>
          </p:nvPr>
        </p:nvSpPr>
        <p:spPr>
          <a:xfrm>
            <a:off x="838200" y="1497676"/>
            <a:ext cx="10515600" cy="4090908"/>
          </a:xfrm>
        </p:spPr>
        <p:txBody>
          <a:bodyPr vert="horz" lIns="91440" tIns="45720" rIns="91440" bIns="45720" rtlCol="0" anchor="t">
            <a:normAutofit lnSpcReduction="10000"/>
          </a:bodyPr>
          <a:lstStyle/>
          <a:p>
            <a:pPr marL="0" indent="0">
              <a:buNone/>
            </a:pPr>
            <a:r>
              <a:rPr lang="en-US" sz="2000" b="1">
                <a:latin typeface="Arial"/>
                <a:cs typeface="Arial"/>
              </a:rPr>
              <a:t>• IBM Bob platform</a:t>
            </a:r>
            <a:r>
              <a:rPr lang="en-US" sz="2000">
                <a:latin typeface="Arial"/>
                <a:cs typeface="Arial"/>
              </a:rPr>
              <a:t> – For designing and developing the Study Assistant Agent and orchestrating AI workflows.</a:t>
            </a:r>
            <a:endParaRPr lang="en-US" sz="2000" dirty="0"/>
          </a:p>
          <a:p>
            <a:pPr marL="0" indent="0">
              <a:buNone/>
            </a:pPr>
            <a:r>
              <a:rPr lang="en-US" sz="2000" b="1">
                <a:latin typeface="Arial"/>
                <a:cs typeface="Arial"/>
              </a:rPr>
              <a:t>• IBM Granite model</a:t>
            </a:r>
            <a:r>
              <a:rPr lang="en-US" sz="2000">
                <a:latin typeface="Arial"/>
                <a:cs typeface="Arial"/>
              </a:rPr>
              <a:t> – For natural language understanding, reasoning, explanations, and personalized study guidance.</a:t>
            </a:r>
            <a:endParaRPr lang="en-US" sz="2000" dirty="0"/>
          </a:p>
          <a:p>
            <a:pPr marL="0" indent="0">
              <a:buNone/>
            </a:pPr>
            <a:r>
              <a:rPr lang="en-US" sz="2000" b="1">
                <a:latin typeface="Arial"/>
                <a:cs typeface="Arial"/>
              </a:rPr>
              <a:t>• IBM Cloud</a:t>
            </a:r>
            <a:r>
              <a:rPr lang="en-US" sz="2000">
                <a:latin typeface="Arial"/>
                <a:cs typeface="Arial"/>
              </a:rPr>
              <a:t> – Provides the infrastructure to build, deploy, and scale the Study Assistant efficiently.</a:t>
            </a:r>
            <a:endParaRPr lang="en-US" sz="2000" dirty="0"/>
          </a:p>
          <a:p>
            <a:pPr marL="0" indent="0">
              <a:buNone/>
            </a:pPr>
            <a:r>
              <a:rPr lang="en-US" sz="2000" b="1">
                <a:latin typeface="Arial"/>
                <a:cs typeface="Arial"/>
              </a:rPr>
              <a:t>• AI Agent Architecture</a:t>
            </a:r>
            <a:r>
              <a:rPr lang="en-US" sz="2000">
                <a:latin typeface="Arial"/>
                <a:cs typeface="Arial"/>
              </a:rPr>
              <a:t> – Enables specialized agents to work together for study planning, subject analysis, revision, and learning assistance.</a:t>
            </a:r>
            <a:endParaRPr lang="en-US" sz="2000" dirty="0"/>
          </a:p>
          <a:p>
            <a:pPr marL="0" indent="0">
              <a:buNone/>
            </a:pPr>
            <a:r>
              <a:rPr lang="en-US" sz="2000" b="1">
                <a:latin typeface="Arial"/>
                <a:cs typeface="Arial"/>
              </a:rPr>
              <a:t>• IBM watsonx.ai</a:t>
            </a:r>
            <a:r>
              <a:rPr lang="en-US" sz="2000">
                <a:latin typeface="Arial"/>
                <a:cs typeface="Arial"/>
              </a:rPr>
              <a:t> – For AI model integration, deployment, and AI governance.</a:t>
            </a:r>
            <a:endParaRPr lang="en-US" sz="2000" dirty="0"/>
          </a:p>
          <a:p>
            <a:pPr marL="0" indent="0">
              <a:buNone/>
            </a:pPr>
            <a:r>
              <a:rPr lang="en-US" sz="2000" b="1" dirty="0">
                <a:latin typeface="Arial"/>
                <a:cs typeface="Arial"/>
              </a:rPr>
              <a:t>• Web Technologies (HTML/CSS/JavaScript)</a:t>
            </a:r>
            <a:r>
              <a:rPr lang="en-US" sz="2000" dirty="0">
                <a:latin typeface="Arial"/>
                <a:cs typeface="Arial"/>
              </a:rPr>
              <a:t> – For creating the responsive and interactive </a:t>
            </a:r>
            <a:r>
              <a:rPr lang="en-US" sz="2000" dirty="0" err="1">
                <a:latin typeface="Arial"/>
                <a:cs typeface="Arial"/>
              </a:rPr>
              <a:t>StudyMate</a:t>
            </a:r>
            <a:r>
              <a:rPr lang="en-US" sz="2000" dirty="0">
                <a:latin typeface="Arial"/>
                <a:cs typeface="Arial"/>
              </a:rPr>
              <a:t> user interface.</a:t>
            </a:r>
            <a:endParaRPr lang="en-US" sz="2000" dirty="0"/>
          </a:p>
          <a:p>
            <a:pPr marL="0" indent="0">
              <a:buNone/>
            </a:pPr>
            <a:r>
              <a:rPr lang="en-US" sz="2000" dirty="0">
                <a:latin typeface="Arial"/>
                <a:cs typeface="Arial"/>
              </a:rPr>
              <a:t> </a:t>
            </a:r>
            <a:endParaRPr lang="en-US" sz="2000" dirty="0"/>
          </a:p>
          <a:p>
            <a:pPr marL="0" indent="0">
              <a:buNone/>
            </a:pPr>
            <a:endParaRPr lang="en-US" sz="2000" dirty="0">
              <a:latin typeface="Arial"/>
              <a:cs typeface="Arial"/>
            </a:endParaRPr>
          </a:p>
          <a:p>
            <a:endParaRPr lang="en-US" sz="2000" dirty="0"/>
          </a:p>
        </p:txBody>
      </p:sp>
    </p:spTree>
    <p:extLst>
      <p:ext uri="{BB962C8B-B14F-4D97-AF65-F5344CB8AC3E}">
        <p14:creationId xmlns:p14="http://schemas.microsoft.com/office/powerpoint/2010/main" val="2058230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E4961-5F1F-92F5-EF40-71C4904060A5}"/>
              </a:ext>
            </a:extLst>
          </p:cNvPr>
          <p:cNvSpPr>
            <a:spLocks noGrp="1"/>
          </p:cNvSpPr>
          <p:nvPr>
            <p:ph type="title"/>
          </p:nvPr>
        </p:nvSpPr>
        <p:spPr>
          <a:xfrm>
            <a:off x="548833" y="230087"/>
            <a:ext cx="10515600" cy="1325563"/>
          </a:xfrm>
        </p:spPr>
        <p:txBody>
          <a:bodyPr/>
          <a:lstStyle/>
          <a:p>
            <a:r>
              <a:rPr lang="en-US">
                <a:ea typeface="+mj-lt"/>
                <a:cs typeface="+mj-lt"/>
              </a:rPr>
              <a:t>Required Files created using IBM bob -</a:t>
            </a:r>
            <a:endParaRPr lang="en-US"/>
          </a:p>
        </p:txBody>
      </p:sp>
      <p:sp>
        <p:nvSpPr>
          <p:cNvPr id="3" name="Content Placeholder 2">
            <a:extLst>
              <a:ext uri="{FF2B5EF4-FFF2-40B4-BE49-F238E27FC236}">
                <a16:creationId xmlns:a16="http://schemas.microsoft.com/office/drawing/2014/main" id="{ABBFFEC9-F720-7781-158B-6E60EB773DA2}"/>
              </a:ext>
            </a:extLst>
          </p:cNvPr>
          <p:cNvSpPr>
            <a:spLocks noGrp="1"/>
          </p:cNvSpPr>
          <p:nvPr>
            <p:ph idx="1"/>
          </p:nvPr>
        </p:nvSpPr>
        <p:spPr>
          <a:xfrm>
            <a:off x="838200" y="1555549"/>
            <a:ext cx="10515600" cy="4351338"/>
          </a:xfrm>
        </p:spPr>
        <p:txBody>
          <a:bodyPr vert="horz" lIns="91440" tIns="45720" rIns="91440" bIns="45720" rtlCol="0" anchor="t">
            <a:normAutofit/>
          </a:bodyPr>
          <a:lstStyle/>
          <a:p>
            <a:r>
              <a:rPr lang="en-US" sz="2400">
                <a:latin typeface="Arial"/>
                <a:cs typeface="Arial"/>
              </a:rPr>
              <a:t>1.index.html </a:t>
            </a:r>
          </a:p>
          <a:p>
            <a:r>
              <a:rPr lang="en-US" sz="2400">
                <a:latin typeface="Arial"/>
                <a:cs typeface="Arial"/>
              </a:rPr>
              <a:t>2.README.md</a:t>
            </a:r>
          </a:p>
          <a:p>
            <a:r>
              <a:rPr lang="en-US" sz="2400">
                <a:latin typeface="Arial"/>
                <a:cs typeface="Arial"/>
              </a:rPr>
              <a:t>3.env.example</a:t>
            </a:r>
            <a:endParaRPr lang="en-US" sz="2400" dirty="0"/>
          </a:p>
          <a:p>
            <a:endParaRPr lang="en-US" sz="2400" dirty="0"/>
          </a:p>
        </p:txBody>
      </p:sp>
    </p:spTree>
    <p:extLst>
      <p:ext uri="{BB962C8B-B14F-4D97-AF65-F5344CB8AC3E}">
        <p14:creationId xmlns:p14="http://schemas.microsoft.com/office/powerpoint/2010/main" val="1638609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674EE-D098-9C18-1932-5A43C303D3AF}"/>
              </a:ext>
            </a:extLst>
          </p:cNvPr>
          <p:cNvSpPr>
            <a:spLocks noGrp="1"/>
          </p:cNvSpPr>
          <p:nvPr>
            <p:ph type="title"/>
          </p:nvPr>
        </p:nvSpPr>
        <p:spPr>
          <a:xfrm>
            <a:off x="95491" y="162568"/>
            <a:ext cx="10515600" cy="505691"/>
          </a:xfrm>
        </p:spPr>
        <p:txBody>
          <a:bodyPr/>
          <a:lstStyle/>
          <a:p>
            <a:r>
              <a:rPr lang="en-US" sz="2400" b="1">
                <a:solidFill>
                  <a:srgbClr val="051D3A"/>
                </a:solidFill>
                <a:latin typeface="Times New Roman"/>
                <a:cs typeface="Times New Roman"/>
              </a:rPr>
              <a:t>IBM Bob Screenshots:</a:t>
            </a:r>
            <a:endParaRPr lang="en-US"/>
          </a:p>
        </p:txBody>
      </p:sp>
      <p:pic>
        <p:nvPicPr>
          <p:cNvPr id="4" name="Content Placeholder 3">
            <a:extLst>
              <a:ext uri="{FF2B5EF4-FFF2-40B4-BE49-F238E27FC236}">
                <a16:creationId xmlns:a16="http://schemas.microsoft.com/office/drawing/2014/main" id="{5FB7CFF5-5517-2BCA-D38D-2ED96DD1B790}"/>
              </a:ext>
            </a:extLst>
          </p:cNvPr>
          <p:cNvPicPr>
            <a:picLocks noGrp="1" noChangeAspect="1"/>
          </p:cNvPicPr>
          <p:nvPr>
            <p:ph idx="1"/>
          </p:nvPr>
        </p:nvPicPr>
        <p:blipFill>
          <a:blip r:embed="rId2"/>
          <a:stretch>
            <a:fillRect/>
          </a:stretch>
        </p:blipFill>
        <p:spPr>
          <a:xfrm>
            <a:off x="260431" y="792427"/>
            <a:ext cx="11053822" cy="5896874"/>
          </a:xfrm>
          <a:prstGeom prst="rect">
            <a:avLst/>
          </a:prstGeom>
        </p:spPr>
      </p:pic>
    </p:spTree>
    <p:extLst>
      <p:ext uri="{BB962C8B-B14F-4D97-AF65-F5344CB8AC3E}">
        <p14:creationId xmlns:p14="http://schemas.microsoft.com/office/powerpoint/2010/main" val="51453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9D9529A-AFF7-9C86-9F3A-8B0083260506}"/>
              </a:ext>
            </a:extLst>
          </p:cNvPr>
          <p:cNvPicPr>
            <a:picLocks noGrp="1" noChangeAspect="1"/>
          </p:cNvPicPr>
          <p:nvPr>
            <p:ph idx="1"/>
          </p:nvPr>
        </p:nvPicPr>
        <p:blipFill>
          <a:blip r:embed="rId2"/>
          <a:stretch>
            <a:fillRect/>
          </a:stretch>
        </p:blipFill>
        <p:spPr>
          <a:xfrm>
            <a:off x="125393" y="136527"/>
            <a:ext cx="11854404" cy="6591356"/>
          </a:xfrm>
          <a:prstGeom prst="rect">
            <a:avLst/>
          </a:prstGeom>
        </p:spPr>
      </p:pic>
    </p:spTree>
    <p:extLst>
      <p:ext uri="{BB962C8B-B14F-4D97-AF65-F5344CB8AC3E}">
        <p14:creationId xmlns:p14="http://schemas.microsoft.com/office/powerpoint/2010/main" val="3100206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27E1588-2225-9122-68F9-97E77FA6211B}"/>
              </a:ext>
            </a:extLst>
          </p:cNvPr>
          <p:cNvPicPr>
            <a:picLocks noGrp="1" noChangeAspect="1"/>
          </p:cNvPicPr>
          <p:nvPr>
            <p:ph idx="1"/>
          </p:nvPr>
        </p:nvPicPr>
        <p:blipFill>
          <a:blip r:embed="rId2"/>
          <a:stretch>
            <a:fillRect/>
          </a:stretch>
        </p:blipFill>
        <p:spPr>
          <a:xfrm>
            <a:off x="250785" y="89540"/>
            <a:ext cx="11729012" cy="6772139"/>
          </a:xfrm>
          <a:prstGeom prst="rect">
            <a:avLst/>
          </a:prstGeom>
        </p:spPr>
      </p:pic>
    </p:spTree>
    <p:extLst>
      <p:ext uri="{BB962C8B-B14F-4D97-AF65-F5344CB8AC3E}">
        <p14:creationId xmlns:p14="http://schemas.microsoft.com/office/powerpoint/2010/main" val="3151898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69CC-A5F9-D60A-2108-0CFBAB596C7B}"/>
              </a:ext>
            </a:extLst>
          </p:cNvPr>
          <p:cNvSpPr>
            <a:spLocks noGrp="1"/>
          </p:cNvSpPr>
          <p:nvPr>
            <p:ph type="title"/>
          </p:nvPr>
        </p:nvSpPr>
        <p:spPr>
          <a:xfrm>
            <a:off x="326985" y="95049"/>
            <a:ext cx="10515600" cy="1325563"/>
          </a:xfrm>
        </p:spPr>
        <p:txBody>
          <a:bodyPr/>
          <a:lstStyle/>
          <a:p>
            <a:r>
              <a:rPr lang="en-US">
                <a:ea typeface="+mj-lt"/>
                <a:cs typeface="+mj-lt"/>
              </a:rPr>
              <a:t>Role of Agentic AI in the solution </a:t>
            </a:r>
            <a:endParaRPr lang="en-US"/>
          </a:p>
        </p:txBody>
      </p:sp>
      <p:sp>
        <p:nvSpPr>
          <p:cNvPr id="3" name="Content Placeholder 2">
            <a:extLst>
              <a:ext uri="{FF2B5EF4-FFF2-40B4-BE49-F238E27FC236}">
                <a16:creationId xmlns:a16="http://schemas.microsoft.com/office/drawing/2014/main" id="{E246D3B2-AC95-310B-60A0-DB467C4F5A7F}"/>
              </a:ext>
            </a:extLst>
          </p:cNvPr>
          <p:cNvSpPr>
            <a:spLocks noGrp="1"/>
          </p:cNvSpPr>
          <p:nvPr>
            <p:ph idx="1"/>
          </p:nvPr>
        </p:nvSpPr>
        <p:spPr>
          <a:xfrm>
            <a:off x="326985" y="1256536"/>
            <a:ext cx="7853423" cy="4891489"/>
          </a:xfrm>
        </p:spPr>
        <p:txBody>
          <a:bodyPr vert="horz" lIns="91440" tIns="45720" rIns="91440" bIns="45720" rtlCol="0" anchor="t">
            <a:normAutofit/>
          </a:bodyPr>
          <a:lstStyle/>
          <a:p>
            <a:r>
              <a:rPr lang="en-US" sz="1400" b="1" dirty="0">
                <a:latin typeface="Arial"/>
                <a:cs typeface="Arial"/>
              </a:rPr>
              <a:t>Role of Agentic AI in </a:t>
            </a:r>
            <a:r>
              <a:rPr lang="en-US" sz="1400" b="1" dirty="0" err="1">
                <a:latin typeface="Arial"/>
                <a:cs typeface="Arial"/>
              </a:rPr>
              <a:t>StudyMate</a:t>
            </a:r>
            <a:r>
              <a:rPr lang="en-US" sz="1400" b="1" dirty="0">
                <a:latin typeface="Arial"/>
                <a:cs typeface="Arial"/>
              </a:rPr>
              <a:t> AI</a:t>
            </a:r>
            <a:endParaRPr lang="en-US" dirty="0"/>
          </a:p>
          <a:p>
            <a:r>
              <a:rPr lang="en-US" sz="1400" b="1" dirty="0">
                <a:latin typeface="Arial"/>
                <a:cs typeface="Arial"/>
              </a:rPr>
              <a:t>Agentic AI</a:t>
            </a:r>
            <a:r>
              <a:rPr lang="en-US" sz="1400" dirty="0">
                <a:latin typeface="Arial"/>
                <a:cs typeface="Arial"/>
              </a:rPr>
              <a:t> enables </a:t>
            </a:r>
            <a:r>
              <a:rPr lang="en-US" sz="1400" dirty="0" err="1">
                <a:latin typeface="Arial"/>
                <a:cs typeface="Arial"/>
              </a:rPr>
              <a:t>StudyMate</a:t>
            </a:r>
            <a:r>
              <a:rPr lang="en-US" sz="1400" dirty="0">
                <a:latin typeface="Arial"/>
                <a:cs typeface="Arial"/>
              </a:rPr>
              <a:t> AI to function as an intelligent, autonomous study assistant rather than a simple chatbot. Using </a:t>
            </a:r>
            <a:r>
              <a:rPr lang="en-US" sz="1400" b="1" dirty="0">
                <a:latin typeface="Arial"/>
                <a:cs typeface="Arial"/>
              </a:rPr>
              <a:t>IBM watsonx.ai</a:t>
            </a:r>
            <a:r>
              <a:rPr lang="en-US" sz="1400" dirty="0">
                <a:latin typeface="Arial"/>
                <a:cs typeface="Arial"/>
              </a:rPr>
              <a:t> and</a:t>
            </a:r>
            <a:r>
              <a:rPr lang="en-US" sz="1400" b="1" dirty="0">
                <a:latin typeface="Arial"/>
                <a:cs typeface="Arial"/>
              </a:rPr>
              <a:t> IBM Granite models</a:t>
            </a:r>
            <a:r>
              <a:rPr lang="en-US" sz="1400" dirty="0">
                <a:latin typeface="Arial"/>
                <a:cs typeface="Arial"/>
              </a:rPr>
              <a:t>, it coordinates multiple specialized agents to provide personalized study guidance.</a:t>
            </a:r>
            <a:endParaRPr lang="en-US" dirty="0"/>
          </a:p>
          <a:p>
            <a:r>
              <a:rPr lang="en-US" sz="1400">
                <a:latin typeface="Arial"/>
                <a:cs typeface="Arial"/>
              </a:rPr>
              <a:t>Each agent performs a specific role—such as creating study plans, analyzing subjects, preparing revision schedules, and explaining topics—while working collaboratively. This </a:t>
            </a:r>
            <a:r>
              <a:rPr lang="en-US" sz="1400" b="1">
                <a:latin typeface="Arial"/>
                <a:cs typeface="Arial"/>
              </a:rPr>
              <a:t>multi-agent approach</a:t>
            </a:r>
            <a:r>
              <a:rPr lang="en-US" sz="1400">
                <a:latin typeface="Arial"/>
                <a:cs typeface="Arial"/>
              </a:rPr>
              <a:t> ensures efficient task execution and personalized learning support.</a:t>
            </a:r>
            <a:endParaRPr lang="en-US"/>
          </a:p>
          <a:p>
            <a:r>
              <a:rPr lang="en-US" sz="1400">
                <a:latin typeface="Arial"/>
                <a:cs typeface="Arial"/>
              </a:rPr>
              <a:t>Agentic AI also provides </a:t>
            </a:r>
            <a:r>
              <a:rPr lang="en-US" sz="1400" b="1">
                <a:latin typeface="Arial"/>
                <a:cs typeface="Arial"/>
              </a:rPr>
              <a:t>context awareness</a:t>
            </a:r>
            <a:r>
              <a:rPr lang="en-US" sz="1400">
                <a:latin typeface="Arial"/>
                <a:cs typeface="Arial"/>
              </a:rPr>
              <a:t>, understanding student details such as subjects, weak areas, exam dates, available study time, and learning goals. It supports </a:t>
            </a:r>
            <a:r>
              <a:rPr lang="en-US" sz="1400" b="1">
                <a:latin typeface="Arial"/>
                <a:cs typeface="Arial"/>
              </a:rPr>
              <a:t>real-time adaptation</a:t>
            </a:r>
            <a:r>
              <a:rPr lang="en-US" sz="1400">
                <a:latin typeface="Arial"/>
                <a:cs typeface="Arial"/>
              </a:rPr>
              <a:t>, updating study recommendations based on the student's progress and requirements.</a:t>
            </a:r>
            <a:endParaRPr lang="en-US"/>
          </a:p>
          <a:p>
            <a:r>
              <a:rPr lang="en-US" sz="1400" dirty="0">
                <a:latin typeface="Arial"/>
                <a:cs typeface="Arial"/>
              </a:rPr>
              <a:t>Additionally, agents work together to improve decision-making and provide better study recommendations. Overall, Agentic AI makes </a:t>
            </a:r>
            <a:r>
              <a:rPr lang="en-US" sz="1400" dirty="0" err="1">
                <a:latin typeface="Arial"/>
                <a:cs typeface="Arial"/>
              </a:rPr>
              <a:t>StudyMate</a:t>
            </a:r>
            <a:r>
              <a:rPr lang="en-US" sz="1400" dirty="0">
                <a:latin typeface="Arial"/>
                <a:cs typeface="Arial"/>
              </a:rPr>
              <a:t> AI</a:t>
            </a:r>
            <a:r>
              <a:rPr lang="en-US" sz="1400" b="1" dirty="0">
                <a:latin typeface="Arial"/>
                <a:cs typeface="Arial"/>
              </a:rPr>
              <a:t> proactive</a:t>
            </a:r>
            <a:r>
              <a:rPr lang="en-US" sz="1400" dirty="0">
                <a:latin typeface="Arial"/>
                <a:cs typeface="Arial"/>
              </a:rPr>
              <a:t>, </a:t>
            </a:r>
            <a:r>
              <a:rPr lang="en-US" sz="1400" b="1" dirty="0">
                <a:latin typeface="Arial"/>
                <a:cs typeface="Arial"/>
              </a:rPr>
              <a:t>personalized</a:t>
            </a:r>
            <a:r>
              <a:rPr lang="en-US" sz="1400" dirty="0">
                <a:latin typeface="Arial"/>
                <a:cs typeface="Arial"/>
              </a:rPr>
              <a:t>, and goal-driven, acting as a </a:t>
            </a:r>
            <a:r>
              <a:rPr lang="en-US" sz="1400" b="1" dirty="0">
                <a:latin typeface="Arial"/>
                <a:cs typeface="Arial"/>
              </a:rPr>
              <a:t>smart digital study assistant</a:t>
            </a:r>
            <a:r>
              <a:rPr lang="en-US" sz="1400" dirty="0">
                <a:latin typeface="Arial"/>
                <a:cs typeface="Arial"/>
              </a:rPr>
              <a:t> that helps students plan, learn, revise, and track their academic progress.</a:t>
            </a:r>
            <a:endParaRPr lang="en-US" dirty="0"/>
          </a:p>
          <a:p>
            <a:endParaRPr lang="en-US" dirty="0"/>
          </a:p>
        </p:txBody>
      </p:sp>
      <p:pic>
        <p:nvPicPr>
          <p:cNvPr id="4" name="Picture 3">
            <a:extLst>
              <a:ext uri="{FF2B5EF4-FFF2-40B4-BE49-F238E27FC236}">
                <a16:creationId xmlns:a16="http://schemas.microsoft.com/office/drawing/2014/main" id="{0F90A6E6-FC5B-47BB-CE3B-FE4F5B0B1EAC}"/>
              </a:ext>
            </a:extLst>
          </p:cNvPr>
          <p:cNvPicPr>
            <a:picLocks noChangeAspect="1"/>
          </p:cNvPicPr>
          <p:nvPr/>
        </p:nvPicPr>
        <p:blipFill>
          <a:blip r:embed="rId2"/>
          <a:stretch>
            <a:fillRect/>
          </a:stretch>
        </p:blipFill>
        <p:spPr>
          <a:xfrm>
            <a:off x="8498772" y="1060048"/>
            <a:ext cx="2988076" cy="3850511"/>
          </a:xfrm>
          <a:prstGeom prst="rect">
            <a:avLst/>
          </a:prstGeom>
        </p:spPr>
      </p:pic>
    </p:spTree>
    <p:extLst>
      <p:ext uri="{BB962C8B-B14F-4D97-AF65-F5344CB8AC3E}">
        <p14:creationId xmlns:p14="http://schemas.microsoft.com/office/powerpoint/2010/main" val="1602427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462EE-7C33-6E58-5BE2-9839DE328D11}"/>
              </a:ext>
            </a:extLst>
          </p:cNvPr>
          <p:cNvSpPr>
            <a:spLocks noGrp="1"/>
          </p:cNvSpPr>
          <p:nvPr>
            <p:ph type="title"/>
          </p:nvPr>
        </p:nvSpPr>
        <p:spPr>
          <a:xfrm>
            <a:off x="-965" y="-88217"/>
            <a:ext cx="10515600" cy="920450"/>
          </a:xfrm>
        </p:spPr>
        <p:txBody>
          <a:bodyPr>
            <a:normAutofit/>
          </a:bodyPr>
          <a:lstStyle/>
          <a:p>
            <a:r>
              <a:rPr lang="en-US" sz="4000">
                <a:ea typeface="+mj-lt"/>
                <a:cs typeface="+mj-lt"/>
              </a:rPr>
              <a:t> Project Output Screenshot:</a:t>
            </a:r>
            <a:endParaRPr lang="en-US" sz="4000"/>
          </a:p>
        </p:txBody>
      </p:sp>
      <p:pic>
        <p:nvPicPr>
          <p:cNvPr id="4" name="Content Placeholder 3">
            <a:extLst>
              <a:ext uri="{FF2B5EF4-FFF2-40B4-BE49-F238E27FC236}">
                <a16:creationId xmlns:a16="http://schemas.microsoft.com/office/drawing/2014/main" id="{00FB26EB-0941-A844-3B79-2B81E106FC5C}"/>
              </a:ext>
            </a:extLst>
          </p:cNvPr>
          <p:cNvPicPr>
            <a:picLocks noGrp="1" noChangeAspect="1"/>
          </p:cNvPicPr>
          <p:nvPr>
            <p:ph idx="1"/>
          </p:nvPr>
        </p:nvPicPr>
        <p:blipFill>
          <a:blip r:embed="rId2"/>
          <a:stretch>
            <a:fillRect/>
          </a:stretch>
        </p:blipFill>
        <p:spPr>
          <a:xfrm>
            <a:off x="250785" y="664351"/>
            <a:ext cx="11545747" cy="6191608"/>
          </a:xfrm>
          <a:prstGeom prst="rect">
            <a:avLst/>
          </a:prstGeom>
        </p:spPr>
      </p:pic>
    </p:spTree>
    <p:extLst>
      <p:ext uri="{BB962C8B-B14F-4D97-AF65-F5344CB8AC3E}">
        <p14:creationId xmlns:p14="http://schemas.microsoft.com/office/powerpoint/2010/main" val="1815648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D0CB0-A2AE-507E-8334-C77CE08D1C11}"/>
              </a:ext>
            </a:extLst>
          </p:cNvPr>
          <p:cNvSpPr>
            <a:spLocks noGrp="1"/>
          </p:cNvSpPr>
          <p:nvPr>
            <p:ph type="title"/>
          </p:nvPr>
        </p:nvSpPr>
        <p:spPr>
          <a:xfrm>
            <a:off x="-965" y="-155736"/>
            <a:ext cx="10515600" cy="843285"/>
          </a:xfrm>
        </p:spPr>
        <p:txBody>
          <a:bodyPr>
            <a:normAutofit/>
          </a:bodyPr>
          <a:lstStyle/>
          <a:p>
            <a:r>
              <a:rPr lang="en-US" sz="3600">
                <a:ea typeface="+mj-lt"/>
                <a:cs typeface="+mj-lt"/>
              </a:rPr>
              <a:t> Project Output Screenshot</a:t>
            </a:r>
            <a:endParaRPr lang="en-US" sz="3600"/>
          </a:p>
        </p:txBody>
      </p:sp>
      <p:pic>
        <p:nvPicPr>
          <p:cNvPr id="4" name="Content Placeholder 3">
            <a:extLst>
              <a:ext uri="{FF2B5EF4-FFF2-40B4-BE49-F238E27FC236}">
                <a16:creationId xmlns:a16="http://schemas.microsoft.com/office/drawing/2014/main" id="{A7431044-9342-204D-9EC3-4244F9DA5EAD}"/>
              </a:ext>
            </a:extLst>
          </p:cNvPr>
          <p:cNvPicPr>
            <a:picLocks noGrp="1" noChangeAspect="1"/>
          </p:cNvPicPr>
          <p:nvPr>
            <p:ph idx="1"/>
          </p:nvPr>
        </p:nvPicPr>
        <p:blipFill>
          <a:blip r:embed="rId2"/>
          <a:stretch>
            <a:fillRect/>
          </a:stretch>
        </p:blipFill>
        <p:spPr>
          <a:xfrm>
            <a:off x="299013" y="598589"/>
            <a:ext cx="11285316" cy="5985536"/>
          </a:xfrm>
          <a:prstGeom prst="rect">
            <a:avLst/>
          </a:prstGeom>
        </p:spPr>
      </p:pic>
    </p:spTree>
    <p:extLst>
      <p:ext uri="{BB962C8B-B14F-4D97-AF65-F5344CB8AC3E}">
        <p14:creationId xmlns:p14="http://schemas.microsoft.com/office/powerpoint/2010/main" val="1434342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D2A6-C5E3-3C59-F9F4-31D42864F9CE}"/>
              </a:ext>
            </a:extLst>
          </p:cNvPr>
          <p:cNvSpPr>
            <a:spLocks noGrp="1"/>
          </p:cNvSpPr>
          <p:nvPr>
            <p:ph type="title"/>
          </p:nvPr>
        </p:nvSpPr>
        <p:spPr>
          <a:xfrm>
            <a:off x="-965" y="-1407"/>
            <a:ext cx="10515600" cy="602146"/>
          </a:xfrm>
        </p:spPr>
        <p:txBody>
          <a:bodyPr>
            <a:normAutofit fontScale="90000"/>
          </a:bodyPr>
          <a:lstStyle/>
          <a:p>
            <a:r>
              <a:rPr lang="en-US">
                <a:ea typeface="+mj-lt"/>
                <a:cs typeface="+mj-lt"/>
              </a:rPr>
              <a:t> Project Output Screenshot</a:t>
            </a:r>
            <a:endParaRPr lang="en-US"/>
          </a:p>
        </p:txBody>
      </p:sp>
      <p:pic>
        <p:nvPicPr>
          <p:cNvPr id="4" name="Content Placeholder 3">
            <a:extLst>
              <a:ext uri="{FF2B5EF4-FFF2-40B4-BE49-F238E27FC236}">
                <a16:creationId xmlns:a16="http://schemas.microsoft.com/office/drawing/2014/main" id="{352B0D32-2223-2B79-1480-51CDA238C0B1}"/>
              </a:ext>
            </a:extLst>
          </p:cNvPr>
          <p:cNvPicPr>
            <a:picLocks noGrp="1" noChangeAspect="1"/>
          </p:cNvPicPr>
          <p:nvPr>
            <p:ph idx="1"/>
          </p:nvPr>
        </p:nvPicPr>
        <p:blipFill>
          <a:blip r:embed="rId2"/>
          <a:stretch>
            <a:fillRect/>
          </a:stretch>
        </p:blipFill>
        <p:spPr>
          <a:xfrm>
            <a:off x="231494" y="686325"/>
            <a:ext cx="11285316" cy="6002976"/>
          </a:xfrm>
          <a:prstGeom prst="rect">
            <a:avLst/>
          </a:prstGeom>
        </p:spPr>
      </p:pic>
    </p:spTree>
    <p:extLst>
      <p:ext uri="{BB962C8B-B14F-4D97-AF65-F5344CB8AC3E}">
        <p14:creationId xmlns:p14="http://schemas.microsoft.com/office/powerpoint/2010/main" val="3093944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27B6-9829-A75B-8AE2-DED7EE2613AF}"/>
              </a:ext>
            </a:extLst>
          </p:cNvPr>
          <p:cNvSpPr>
            <a:spLocks noGrp="1"/>
          </p:cNvSpPr>
          <p:nvPr>
            <p:ph type="title"/>
          </p:nvPr>
        </p:nvSpPr>
        <p:spPr>
          <a:xfrm>
            <a:off x="-965" y="-1407"/>
            <a:ext cx="10515600" cy="534627"/>
          </a:xfrm>
        </p:spPr>
        <p:txBody>
          <a:bodyPr>
            <a:normAutofit fontScale="90000"/>
          </a:bodyPr>
          <a:lstStyle/>
          <a:p>
            <a:r>
              <a:rPr lang="en-US">
                <a:ea typeface="+mj-lt"/>
                <a:cs typeface="+mj-lt"/>
              </a:rPr>
              <a:t> Project Output Screenshot</a:t>
            </a:r>
            <a:endParaRPr lang="en-US"/>
          </a:p>
        </p:txBody>
      </p:sp>
      <p:pic>
        <p:nvPicPr>
          <p:cNvPr id="4" name="Content Placeholder 3">
            <a:extLst>
              <a:ext uri="{FF2B5EF4-FFF2-40B4-BE49-F238E27FC236}">
                <a16:creationId xmlns:a16="http://schemas.microsoft.com/office/drawing/2014/main" id="{4E912955-4D1B-80BE-C06B-0232FDA0E16D}"/>
              </a:ext>
            </a:extLst>
          </p:cNvPr>
          <p:cNvPicPr>
            <a:picLocks noGrp="1" noChangeAspect="1"/>
          </p:cNvPicPr>
          <p:nvPr>
            <p:ph idx="1"/>
          </p:nvPr>
        </p:nvPicPr>
        <p:blipFill>
          <a:blip r:embed="rId2"/>
          <a:stretch>
            <a:fillRect/>
          </a:stretch>
        </p:blipFill>
        <p:spPr>
          <a:xfrm>
            <a:off x="231494" y="618806"/>
            <a:ext cx="11661493" cy="6138014"/>
          </a:xfrm>
          <a:prstGeom prst="rect">
            <a:avLst/>
          </a:prstGeom>
        </p:spPr>
      </p:pic>
    </p:spTree>
    <p:extLst>
      <p:ext uri="{BB962C8B-B14F-4D97-AF65-F5344CB8AC3E}">
        <p14:creationId xmlns:p14="http://schemas.microsoft.com/office/powerpoint/2010/main" val="2704595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7A1C-FD27-A388-F29F-C413A268C575}"/>
              </a:ext>
            </a:extLst>
          </p:cNvPr>
          <p:cNvSpPr>
            <a:spLocks noGrp="1"/>
          </p:cNvSpPr>
          <p:nvPr>
            <p:ph type="title"/>
          </p:nvPr>
        </p:nvSpPr>
        <p:spPr>
          <a:xfrm>
            <a:off x="433086" y="114340"/>
            <a:ext cx="10515600" cy="1325563"/>
          </a:xfrm>
        </p:spPr>
        <p:txBody>
          <a:bodyPr/>
          <a:lstStyle/>
          <a:p>
            <a:r>
              <a:rPr lang="en-US" sz="3600" b="1">
                <a:ea typeface="+mj-lt"/>
                <a:cs typeface="+mj-lt"/>
              </a:rPr>
              <a:t>Novelty and Uniqueness</a:t>
            </a:r>
          </a:p>
        </p:txBody>
      </p:sp>
      <p:sp>
        <p:nvSpPr>
          <p:cNvPr id="3" name="Content Placeholder 2">
            <a:extLst>
              <a:ext uri="{FF2B5EF4-FFF2-40B4-BE49-F238E27FC236}">
                <a16:creationId xmlns:a16="http://schemas.microsoft.com/office/drawing/2014/main" id="{387A714C-5A05-FAB0-6F97-5BE9236228F7}"/>
              </a:ext>
            </a:extLst>
          </p:cNvPr>
          <p:cNvSpPr>
            <a:spLocks noGrp="1"/>
          </p:cNvSpPr>
          <p:nvPr>
            <p:ph idx="1"/>
          </p:nvPr>
        </p:nvSpPr>
        <p:spPr>
          <a:xfrm>
            <a:off x="838200" y="1256536"/>
            <a:ext cx="10515600" cy="4351338"/>
          </a:xfrm>
        </p:spPr>
        <p:txBody>
          <a:bodyPr vert="horz" lIns="91440" tIns="45720" rIns="91440" bIns="45720" rtlCol="0" anchor="t">
            <a:noAutofit/>
          </a:bodyPr>
          <a:lstStyle/>
          <a:p>
            <a:r>
              <a:rPr lang="en-US" sz="1600" dirty="0">
                <a:latin typeface="Arial"/>
                <a:cs typeface="Arial"/>
              </a:rPr>
              <a:t>The proposed </a:t>
            </a:r>
            <a:r>
              <a:rPr lang="en-US" sz="1600" dirty="0" err="1">
                <a:latin typeface="Arial"/>
                <a:cs typeface="Arial"/>
              </a:rPr>
              <a:t>StudyMate</a:t>
            </a:r>
            <a:r>
              <a:rPr lang="en-US" sz="1600" dirty="0">
                <a:latin typeface="Arial"/>
                <a:cs typeface="Arial"/>
              </a:rPr>
              <a:t> AI stands out by combining Agentic AI, personalization, and intelligent study planning into a single study assistant.</a:t>
            </a:r>
            <a:endParaRPr lang="en-US" sz="1600" dirty="0"/>
          </a:p>
          <a:p>
            <a:r>
              <a:rPr lang="en-US" sz="1600" b="1">
                <a:latin typeface="Arial"/>
                <a:cs typeface="Arial"/>
              </a:rPr>
              <a:t>Personalized Study Planning</a:t>
            </a:r>
            <a:r>
              <a:rPr lang="en-US" sz="1600">
                <a:latin typeface="Arial"/>
                <a:cs typeface="Arial"/>
              </a:rPr>
              <a:t> – Generates study timetables based on the student's subjects, weak areas, exam dates, and available study time.</a:t>
            </a:r>
            <a:endParaRPr lang="en-US" sz="1600" dirty="0"/>
          </a:p>
          <a:p>
            <a:r>
              <a:rPr lang="en-US" sz="1600" b="1">
                <a:latin typeface="Arial"/>
                <a:cs typeface="Arial"/>
              </a:rPr>
              <a:t>Multi-Agent Intelligence</a:t>
            </a:r>
            <a:r>
              <a:rPr lang="en-US" sz="1600">
                <a:latin typeface="Arial"/>
                <a:cs typeface="Arial"/>
              </a:rPr>
              <a:t> – Uses specialized agents for study planning, subject analysis, revision, and learning assistance.</a:t>
            </a:r>
            <a:endParaRPr lang="en-US" sz="1600" dirty="0"/>
          </a:p>
          <a:p>
            <a:r>
              <a:rPr lang="en-US" sz="1600" b="1">
                <a:latin typeface="Arial"/>
                <a:cs typeface="Arial"/>
              </a:rPr>
              <a:t>Adaptive Revision</a:t>
            </a:r>
            <a:r>
              <a:rPr lang="en-US" sz="1600">
                <a:latin typeface="Arial"/>
                <a:cs typeface="Arial"/>
              </a:rPr>
              <a:t> – Creates revision schedules based on exam deadlines, weak subjects, and learning priorities.</a:t>
            </a:r>
            <a:endParaRPr lang="en-US" sz="1600" dirty="0"/>
          </a:p>
          <a:p>
            <a:r>
              <a:rPr lang="en-US" sz="1600" b="1">
                <a:latin typeface="Arial"/>
                <a:cs typeface="Arial"/>
              </a:rPr>
              <a:t>AI Learning Assistant</a:t>
            </a:r>
            <a:r>
              <a:rPr lang="en-US" sz="1600">
                <a:latin typeface="Arial"/>
                <a:cs typeface="Arial"/>
              </a:rPr>
              <a:t> – Explains difficult topics in simple language and answers study-related questions interactively.</a:t>
            </a:r>
            <a:endParaRPr lang="en-US" sz="1600" dirty="0"/>
          </a:p>
          <a:p>
            <a:r>
              <a:rPr lang="en-US" sz="1600" b="1">
                <a:latin typeface="Arial"/>
                <a:cs typeface="Arial"/>
              </a:rPr>
              <a:t>Progress &amp; Goal Tracking</a:t>
            </a:r>
            <a:r>
              <a:rPr lang="en-US" sz="1600">
                <a:latin typeface="Arial"/>
                <a:cs typeface="Arial"/>
              </a:rPr>
              <a:t> – Helps students set daily and weekly learning goals and track their study progress.</a:t>
            </a:r>
            <a:endParaRPr lang="en-US" sz="1600" dirty="0"/>
          </a:p>
          <a:p>
            <a:r>
              <a:rPr lang="en-US" sz="1600" b="1">
                <a:latin typeface="Arial"/>
                <a:cs typeface="Arial"/>
              </a:rPr>
              <a:t>Context-Aware Assistance</a:t>
            </a:r>
            <a:r>
              <a:rPr lang="en-US" sz="1600">
                <a:latin typeface="Arial"/>
                <a:cs typeface="Arial"/>
              </a:rPr>
              <a:t> – Uses student information, subjects, exam dates, and study preferences to provide relevant guidance.</a:t>
            </a:r>
            <a:endParaRPr lang="en-US" sz="1600" dirty="0"/>
          </a:p>
          <a:p>
            <a:r>
              <a:rPr lang="en-US" sz="1600" b="1" dirty="0">
                <a:latin typeface="Arial"/>
                <a:cs typeface="Arial"/>
              </a:rPr>
              <a:t>IBM </a:t>
            </a:r>
            <a:r>
              <a:rPr lang="en-US" sz="1600" b="1" dirty="0" err="1">
                <a:latin typeface="Arial"/>
                <a:cs typeface="Arial"/>
              </a:rPr>
              <a:t>GraIntegration</a:t>
            </a:r>
            <a:r>
              <a:rPr lang="en-US" sz="1600" b="1" dirty="0">
                <a:latin typeface="Arial"/>
                <a:cs typeface="Arial"/>
              </a:rPr>
              <a:t> </a:t>
            </a:r>
            <a:r>
              <a:rPr lang="en-US" sz="1600" b="1" dirty="0" err="1">
                <a:latin typeface="Arial"/>
                <a:cs typeface="Arial"/>
              </a:rPr>
              <a:t>nite</a:t>
            </a:r>
            <a:r>
              <a:rPr lang="en-US" sz="1600" dirty="0">
                <a:latin typeface="Arial"/>
                <a:cs typeface="Arial"/>
              </a:rPr>
              <a:t> – Uses IBM Granite models through watsonx.ai for intelligent study guidance and personalized responses.</a:t>
            </a:r>
            <a:endParaRPr lang="en-US" sz="1600" dirty="0"/>
          </a:p>
          <a:p>
            <a:r>
              <a:rPr lang="en-US" sz="1600" b="1">
                <a:latin typeface="Arial"/>
                <a:cs typeface="Arial"/>
              </a:rPr>
              <a:t>Clean &amp; Responsive Interface</a:t>
            </a:r>
            <a:r>
              <a:rPr lang="en-US" sz="1600">
                <a:latin typeface="Arial"/>
                <a:cs typeface="Arial"/>
              </a:rPr>
              <a:t> – Provides a simple, user-friendly interface that can be accessed across different screen sizes.</a:t>
            </a:r>
            <a:endParaRPr lang="en-US" sz="1600" dirty="0"/>
          </a:p>
          <a:p>
            <a:r>
              <a:rPr lang="en-US" sz="1600">
                <a:latin typeface="Arial"/>
                <a:cs typeface="Arial"/>
              </a:rPr>
              <a:t>This makes the solution a smart, adaptive, and personalized digital study assistant, rather than just a basic timetable generator.</a:t>
            </a:r>
            <a:endParaRPr lang="en-US" sz="1600" dirty="0"/>
          </a:p>
          <a:p>
            <a:endParaRPr lang="en-US" sz="1600" dirty="0"/>
          </a:p>
        </p:txBody>
      </p:sp>
    </p:spTree>
    <p:extLst>
      <p:ext uri="{BB962C8B-B14F-4D97-AF65-F5344CB8AC3E}">
        <p14:creationId xmlns:p14="http://schemas.microsoft.com/office/powerpoint/2010/main" val="2810350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ABCF6-CBF6-C64F-DA77-1C2F15032D85}"/>
              </a:ext>
            </a:extLst>
          </p:cNvPr>
          <p:cNvSpPr>
            <a:spLocks noGrp="1"/>
          </p:cNvSpPr>
          <p:nvPr>
            <p:ph type="title"/>
          </p:nvPr>
        </p:nvSpPr>
        <p:spPr/>
        <p:txBody>
          <a:bodyPr/>
          <a:lstStyle/>
          <a:p>
            <a:r>
              <a:rPr lang="en-US">
                <a:ea typeface="+mj-lt"/>
                <a:cs typeface="+mj-lt"/>
              </a:rPr>
              <a:t>Git Hub Link</a:t>
            </a:r>
            <a:endParaRPr lang="en-US"/>
          </a:p>
        </p:txBody>
      </p:sp>
      <p:sp>
        <p:nvSpPr>
          <p:cNvPr id="3" name="Content Placeholder 2">
            <a:extLst>
              <a:ext uri="{FF2B5EF4-FFF2-40B4-BE49-F238E27FC236}">
                <a16:creationId xmlns:a16="http://schemas.microsoft.com/office/drawing/2014/main" id="{AFF8AFC3-EAAA-0C9B-C662-6391BF169931}"/>
              </a:ext>
            </a:extLst>
          </p:cNvPr>
          <p:cNvSpPr>
            <a:spLocks noGrp="1"/>
          </p:cNvSpPr>
          <p:nvPr>
            <p:ph idx="1"/>
          </p:nvPr>
        </p:nvSpPr>
        <p:spPr>
          <a:xfrm>
            <a:off x="838200" y="1825625"/>
            <a:ext cx="10515600" cy="454528"/>
          </a:xfrm>
        </p:spPr>
        <p:txBody>
          <a:bodyPr vert="horz" lIns="91440" tIns="45720" rIns="91440" bIns="45720" rtlCol="0" anchor="t">
            <a:normAutofit/>
          </a:bodyPr>
          <a:lstStyle/>
          <a:p>
            <a:r>
              <a:rPr lang="en-US" sz="1900" dirty="0">
                <a:solidFill>
                  <a:srgbClr val="2B3541"/>
                </a:solidFill>
                <a:latin typeface="Times New Roman"/>
                <a:cs typeface="Times New Roman"/>
                <a:hlinkClick r:id="rId2"/>
              </a:rPr>
              <a:t>https://anuragsharma006.github.io/studymate-ai/</a:t>
            </a:r>
            <a:endParaRPr lang="en-US"/>
          </a:p>
          <a:p>
            <a:endParaRPr lang="en-US" dirty="0"/>
          </a:p>
        </p:txBody>
      </p:sp>
    </p:spTree>
    <p:extLst>
      <p:ext uri="{BB962C8B-B14F-4D97-AF65-F5344CB8AC3E}">
        <p14:creationId xmlns:p14="http://schemas.microsoft.com/office/powerpoint/2010/main" val="1046126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5170-5B71-610A-60F4-F05368080170}"/>
              </a:ext>
            </a:extLst>
          </p:cNvPr>
          <p:cNvSpPr>
            <a:spLocks noGrp="1"/>
          </p:cNvSpPr>
          <p:nvPr>
            <p:ph type="title"/>
          </p:nvPr>
        </p:nvSpPr>
        <p:spPr/>
        <p:txBody>
          <a:bodyPr/>
          <a:lstStyle/>
          <a:p>
            <a:r>
              <a:rPr lang="en-US">
                <a:ea typeface="+mj-lt"/>
                <a:cs typeface="+mj-lt"/>
              </a:rPr>
              <a:t>Future Scope </a:t>
            </a:r>
          </a:p>
        </p:txBody>
      </p:sp>
      <p:sp>
        <p:nvSpPr>
          <p:cNvPr id="3" name="Content Placeholder 2">
            <a:extLst>
              <a:ext uri="{FF2B5EF4-FFF2-40B4-BE49-F238E27FC236}">
                <a16:creationId xmlns:a16="http://schemas.microsoft.com/office/drawing/2014/main" id="{440EC492-44B3-784C-CF8C-8E07FAA3620A}"/>
              </a:ext>
            </a:extLst>
          </p:cNvPr>
          <p:cNvSpPr>
            <a:spLocks noGrp="1"/>
          </p:cNvSpPr>
          <p:nvPr>
            <p:ph idx="1"/>
          </p:nvPr>
        </p:nvSpPr>
        <p:spPr/>
        <p:txBody>
          <a:bodyPr vert="horz" lIns="91440" tIns="45720" rIns="91440" bIns="45720" rtlCol="0" anchor="t">
            <a:normAutofit/>
          </a:bodyPr>
          <a:lstStyle/>
          <a:p>
            <a:r>
              <a:rPr lang="en-US" sz="2000" b="1" dirty="0">
                <a:ea typeface="+mn-lt"/>
                <a:cs typeface="+mn-lt"/>
              </a:rPr>
              <a:t>1.</a:t>
            </a:r>
            <a:r>
              <a:rPr lang="en-US" sz="2000" dirty="0">
                <a:ea typeface="+mn-lt"/>
                <a:cs typeface="+mn-lt"/>
              </a:rPr>
              <a:t> </a:t>
            </a:r>
            <a:r>
              <a:rPr lang="en-US" sz="2000" b="1" dirty="0">
                <a:ea typeface="+mn-lt"/>
                <a:cs typeface="+mn-lt"/>
              </a:rPr>
              <a:t>Integration with Learning Platforms –</a:t>
            </a:r>
            <a:r>
              <a:rPr lang="en-US" sz="2000" dirty="0">
                <a:ea typeface="+mn-lt"/>
                <a:cs typeface="+mn-lt"/>
              </a:rPr>
              <a:t>The system can be integrated with online learning platforms and course management systems to access study materials, assignments, and course schedules. This will enable </a:t>
            </a:r>
            <a:r>
              <a:rPr lang="en-US" sz="2000" dirty="0" err="1">
                <a:ea typeface="+mn-lt"/>
                <a:cs typeface="+mn-lt"/>
              </a:rPr>
              <a:t>StudyMate</a:t>
            </a:r>
            <a:r>
              <a:rPr lang="en-US" sz="2000" dirty="0">
                <a:ea typeface="+mn-lt"/>
                <a:cs typeface="+mn-lt"/>
              </a:rPr>
              <a:t> AI to provide more accurate and context-aware study recommendations.</a:t>
            </a:r>
          </a:p>
          <a:p>
            <a:r>
              <a:rPr lang="en-US" sz="2000" b="1">
                <a:ea typeface="+mn-lt"/>
                <a:cs typeface="+mn-lt"/>
              </a:rPr>
              <a:t>2. AI-Powered Voice Assistant &amp; Multilingual Support –</a:t>
            </a:r>
            <a:r>
              <a:rPr lang="en-US" sz="2000">
                <a:ea typeface="+mn-lt"/>
                <a:cs typeface="+mn-lt"/>
              </a:rPr>
              <a:t>Enhancing the system with a voice-enabled assistant and support for multiple languages will improve accessibility. Students can interact naturally in their preferred language, making the solution more inclusive and suitable for diverse learners.</a:t>
            </a:r>
            <a:endParaRPr lang="en-US" sz="2000" dirty="0"/>
          </a:p>
          <a:p>
            <a:r>
              <a:rPr lang="en-US" sz="2000" b="1">
                <a:ea typeface="+mn-lt"/>
                <a:cs typeface="+mn-lt"/>
              </a:rPr>
              <a:t>3. Smart Performance Analytics –</a:t>
            </a:r>
            <a:r>
              <a:rPr lang="en-US" sz="2000">
                <a:ea typeface="+mn-lt"/>
                <a:cs typeface="+mn-lt"/>
              </a:rPr>
              <a:t>Future versions can analyze long-term study performance, identify learning patterns, and provide personalized recommendations to improve academic progress</a:t>
            </a:r>
            <a:endParaRPr lang="en-US" sz="2000" dirty="0"/>
          </a:p>
          <a:p>
            <a:r>
              <a:rPr lang="en-US" sz="2000" b="1" dirty="0">
                <a:ea typeface="+mn-lt"/>
                <a:cs typeface="+mn-lt"/>
              </a:rPr>
              <a:t>4. Mobile Application –</a:t>
            </a:r>
            <a:r>
              <a:rPr lang="en-US" sz="2000" dirty="0">
                <a:ea typeface="+mn-lt"/>
                <a:cs typeface="+mn-lt"/>
              </a:rPr>
              <a:t>The </a:t>
            </a:r>
            <a:r>
              <a:rPr lang="en-US" sz="2000" dirty="0" err="1">
                <a:ea typeface="+mn-lt"/>
                <a:cs typeface="+mn-lt"/>
              </a:rPr>
              <a:t>StudyMate</a:t>
            </a:r>
            <a:r>
              <a:rPr lang="en-US" sz="2000" dirty="0">
                <a:ea typeface="+mn-lt"/>
                <a:cs typeface="+mn-lt"/>
              </a:rPr>
              <a:t> AI system can be extended into a mobile application, allowing students to access their study plans, revision schedules, daily goals, and AI learning assistant anywhere.</a:t>
            </a:r>
            <a:endParaRPr lang="en-US" sz="2000" dirty="0"/>
          </a:p>
          <a:p>
            <a:endParaRPr lang="en-US" sz="2000" dirty="0"/>
          </a:p>
        </p:txBody>
      </p:sp>
    </p:spTree>
    <p:extLst>
      <p:ext uri="{BB962C8B-B14F-4D97-AF65-F5344CB8AC3E}">
        <p14:creationId xmlns:p14="http://schemas.microsoft.com/office/powerpoint/2010/main" val="4147359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E0C4-6F1B-95DE-CCCB-B882844425E7}"/>
              </a:ext>
            </a:extLst>
          </p:cNvPr>
          <p:cNvSpPr>
            <a:spLocks noGrp="1"/>
          </p:cNvSpPr>
          <p:nvPr>
            <p:ph type="title"/>
          </p:nvPr>
        </p:nvSpPr>
        <p:spPr/>
        <p:txBody>
          <a:bodyPr/>
          <a:lstStyle/>
          <a:p>
            <a:r>
              <a:rPr lang="en-US" sz="2400" b="1">
                <a:latin typeface="Arial"/>
                <a:cs typeface="Arial"/>
              </a:rPr>
              <a:t>Certificates Earned:</a:t>
            </a:r>
            <a:endParaRPr lang="en-US"/>
          </a:p>
          <a:p>
            <a:endParaRPr lang="en-US" dirty="0"/>
          </a:p>
        </p:txBody>
      </p:sp>
      <p:pic>
        <p:nvPicPr>
          <p:cNvPr id="7" name="Content Placeholder 6">
            <a:extLst>
              <a:ext uri="{FF2B5EF4-FFF2-40B4-BE49-F238E27FC236}">
                <a16:creationId xmlns:a16="http://schemas.microsoft.com/office/drawing/2014/main" id="{3785414D-B86B-6219-15D7-FDCECDBB59BC}"/>
              </a:ext>
            </a:extLst>
          </p:cNvPr>
          <p:cNvPicPr>
            <a:picLocks noGrp="1" noChangeAspect="1"/>
          </p:cNvPicPr>
          <p:nvPr>
            <p:ph idx="1"/>
          </p:nvPr>
        </p:nvPicPr>
        <p:blipFill>
          <a:blip r:embed="rId2"/>
          <a:stretch>
            <a:fillRect/>
          </a:stretch>
        </p:blipFill>
        <p:spPr>
          <a:xfrm>
            <a:off x="1160804" y="1205140"/>
            <a:ext cx="9424078" cy="5407251"/>
          </a:xfrm>
          <a:prstGeom prst="rect">
            <a:avLst/>
          </a:prstGeom>
        </p:spPr>
      </p:pic>
    </p:spTree>
    <p:extLst>
      <p:ext uri="{BB962C8B-B14F-4D97-AF65-F5344CB8AC3E}">
        <p14:creationId xmlns:p14="http://schemas.microsoft.com/office/powerpoint/2010/main" val="2371927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7769D-9967-8417-2E84-BBC85D794C52}"/>
              </a:ext>
            </a:extLst>
          </p:cNvPr>
          <p:cNvSpPr>
            <a:spLocks noGrp="1"/>
          </p:cNvSpPr>
          <p:nvPr>
            <p:ph type="title"/>
          </p:nvPr>
        </p:nvSpPr>
        <p:spPr>
          <a:xfrm>
            <a:off x="143719" y="-1407"/>
            <a:ext cx="10515600" cy="1084424"/>
          </a:xfrm>
        </p:spPr>
        <p:txBody>
          <a:bodyPr/>
          <a:lstStyle/>
          <a:p>
            <a:r>
              <a:rPr lang="en-US" sz="2400" b="1">
                <a:latin typeface="Arial"/>
                <a:cs typeface="Arial"/>
              </a:rPr>
              <a:t>Certificates Earned:</a:t>
            </a:r>
            <a:r>
              <a:rPr lang="en-US" sz="2400" b="1" dirty="0">
                <a:latin typeface="Arial"/>
                <a:cs typeface="Arial"/>
              </a:rPr>
              <a:t> </a:t>
            </a:r>
            <a:endParaRPr lang="en-US" b="1" dirty="0"/>
          </a:p>
          <a:p>
            <a:endParaRPr lang="en-US" b="1" dirty="0"/>
          </a:p>
        </p:txBody>
      </p:sp>
      <p:pic>
        <p:nvPicPr>
          <p:cNvPr id="4" name="Content Placeholder 3">
            <a:extLst>
              <a:ext uri="{FF2B5EF4-FFF2-40B4-BE49-F238E27FC236}">
                <a16:creationId xmlns:a16="http://schemas.microsoft.com/office/drawing/2014/main" id="{F09A4679-DEDE-249A-2854-BBB382BFC58D}"/>
              </a:ext>
            </a:extLst>
          </p:cNvPr>
          <p:cNvPicPr>
            <a:picLocks noGrp="1" noChangeAspect="1"/>
          </p:cNvPicPr>
          <p:nvPr>
            <p:ph idx="1"/>
          </p:nvPr>
        </p:nvPicPr>
        <p:blipFill>
          <a:blip r:embed="rId2"/>
          <a:srcRect l="1589" r="214"/>
          <a:stretch>
            <a:fillRect/>
          </a:stretch>
        </p:blipFill>
        <p:spPr>
          <a:xfrm>
            <a:off x="1247123" y="745322"/>
            <a:ext cx="9419876" cy="5961596"/>
          </a:xfrm>
          <a:prstGeom prst="rect">
            <a:avLst/>
          </a:prstGeom>
        </p:spPr>
      </p:pic>
    </p:spTree>
    <p:extLst>
      <p:ext uri="{BB962C8B-B14F-4D97-AF65-F5344CB8AC3E}">
        <p14:creationId xmlns:p14="http://schemas.microsoft.com/office/powerpoint/2010/main" val="1622435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58BDD8-7316-C8EA-7619-E1347FC3ECC7}"/>
              </a:ext>
            </a:extLst>
          </p:cNvPr>
          <p:cNvSpPr>
            <a:spLocks noGrp="1"/>
          </p:cNvSpPr>
          <p:nvPr>
            <p:ph idx="1"/>
          </p:nvPr>
        </p:nvSpPr>
        <p:spPr>
          <a:xfrm>
            <a:off x="2938041" y="1716768"/>
            <a:ext cx="6319776" cy="3271034"/>
          </a:xfrm>
        </p:spPr>
        <p:txBody>
          <a:bodyPr vert="horz" lIns="91440" tIns="45720" rIns="91440" bIns="45720" rtlCol="0" anchor="t">
            <a:noAutofit/>
          </a:bodyPr>
          <a:lstStyle/>
          <a:p>
            <a:pPr marL="0" indent="0" algn="just">
              <a:buNone/>
            </a:pPr>
            <a:r>
              <a:rPr lang="en-US" sz="7200"/>
              <a:t>THANK YOU!</a:t>
            </a:r>
            <a:endParaRPr lang="en-US"/>
          </a:p>
        </p:txBody>
      </p:sp>
      <p:sp>
        <p:nvSpPr>
          <p:cNvPr id="7" name="TextBox 6">
            <a:extLst>
              <a:ext uri="{FF2B5EF4-FFF2-40B4-BE49-F238E27FC236}">
                <a16:creationId xmlns:a16="http://schemas.microsoft.com/office/drawing/2014/main" id="{73F978FE-70B3-1836-6C9E-D2D812A8F633}"/>
              </a:ext>
            </a:extLst>
          </p:cNvPr>
          <p:cNvSpPr txBox="1"/>
          <p:nvPr/>
        </p:nvSpPr>
        <p:spPr>
          <a:xfrm>
            <a:off x="3329500" y="2760479"/>
            <a:ext cx="488665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Thank you for your time and interest</a:t>
            </a:r>
          </a:p>
        </p:txBody>
      </p:sp>
    </p:spTree>
    <p:extLst>
      <p:ext uri="{BB962C8B-B14F-4D97-AF65-F5344CB8AC3E}">
        <p14:creationId xmlns:p14="http://schemas.microsoft.com/office/powerpoint/2010/main" val="29580063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Project Tile – AI-Powered Health &amp; Wellness Assistant </vt:lpstr>
      <vt:lpstr>Problem Statement -</vt:lpstr>
      <vt:lpstr>Proposed Solution -</vt:lpstr>
      <vt:lpstr>Technology Used</vt:lpstr>
      <vt:lpstr>Required Files created using IBM bob -</vt:lpstr>
      <vt:lpstr>IBM Bob Screenshots:</vt:lpstr>
      <vt:lpstr>PowerPoint Presentation</vt:lpstr>
      <vt:lpstr>PowerPoint Presentation</vt:lpstr>
      <vt:lpstr>Role of Agentic AI in the solution </vt:lpstr>
      <vt:lpstr> Project Output Screenshot:</vt:lpstr>
      <vt:lpstr> Project Output Screenshot</vt:lpstr>
      <vt:lpstr> Project Output Screenshot</vt:lpstr>
      <vt:lpstr> Project Output Screenshot</vt:lpstr>
      <vt:lpstr>Novelty and Uniqueness</vt:lpstr>
      <vt:lpstr>Git Hub Link</vt:lpstr>
      <vt:lpstr>Future Scope </vt:lpstr>
      <vt:lpstr>Certificates Earned: </vt:lpstr>
      <vt:lpstr>Certificates Earned: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219</cp:revision>
  <dcterms:created xsi:type="dcterms:W3CDTF">2026-08-12T04:44:14Z</dcterms:created>
  <dcterms:modified xsi:type="dcterms:W3CDTF">2026-08-12T05:35:58Z</dcterms:modified>
</cp:coreProperties>
</file>